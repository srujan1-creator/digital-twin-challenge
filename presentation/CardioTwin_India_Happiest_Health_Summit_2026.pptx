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CardioTwin-India</a:t>
            </a:r>
          </a:p>
          <a:p>
            <a:pPr>
              <a:spcBef>
                <a:spcPts val="1200"/>
              </a:spcBef>
              <a:defRPr sz="1800">
                <a:solidFill>
                  <a:srgbClr val="38BDF8"/>
                </a:solidFill>
              </a:defRPr>
            </a:pPr>
            <a:r>
              <a:t>A Multimodal Physiomarker Digital Twin for Predictive Cardio-Metabolic &amp; Type-2 Diabetes Management in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500">
                <a:solidFill>
                  <a:srgbClr val="E2E8F0"/>
                </a:solidFill>
              </a:defRPr>
            </a:pPr>
            <a:r>
              <a:t>🏆 Official Submission: Happiest Health - Digital Twin Challenge 2026</a:t>
            </a:r>
          </a:p>
          <a:p>
            <a:pPr>
              <a:spcBef>
                <a:spcPts val="800"/>
              </a:spcBef>
              <a:defRPr sz="1500">
                <a:solidFill>
                  <a:srgbClr val="E2E8F0"/>
                </a:solidFill>
              </a:defRPr>
            </a:pPr>
            <a:r>
              <a:t>🏛️ Event: Reimagining &amp; Reforming Healthcare in India Summit 2026</a:t>
            </a:r>
          </a:p>
          <a:p>
            <a:pPr>
              <a:spcBef>
                <a:spcPts val="800"/>
              </a:spcBef>
              <a:defRPr sz="1500">
                <a:solidFill>
                  <a:srgbClr val="E2E8F0"/>
                </a:solidFill>
              </a:defRPr>
            </a:pPr>
            <a:r>
              <a:t>👤 Lead Researcher &amp; Engineer: Kandanala Kota Mohith Srujan</a:t>
            </a:r>
          </a:p>
          <a:p>
            <a:pPr>
              <a:spcBef>
                <a:spcPts val="800"/>
              </a:spcBef>
              <a:defRPr sz="1500">
                <a:solidFill>
                  <a:srgbClr val="E2E8F0"/>
                </a:solidFill>
              </a:defRPr>
            </a:pPr>
            <a:r>
              <a:t>📧 Contact: kandanalasrujan@gmail.com | GitHub: https://github.com/srujan1-creator/Digital-Twin-Challenge</a:t>
            </a:r>
          </a:p>
          <a:p>
            <a:pPr>
              <a:spcBef>
                <a:spcPts val="800"/>
              </a:spcBef>
              <a:defRPr sz="1500">
                <a:solidFill>
                  <a:srgbClr val="E2E8F0"/>
                </a:solidFill>
              </a:defRPr>
            </a:pPr>
            <a:r>
              <a:t>🇮🇳 Population Target: Asian Indian Phenotype (101M T2D &amp; 315M Hypertensive Individuals)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1. The Indian Healthcare Dilemma &amp; Clinical Context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Why Standard Chronic Disease Management Fails in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Epidemic Scale: India is the diabetes capital of the world (101M diabetics, 136M pre-diabetics, 315M hypertensives per ICMR-INDIAB).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The 'Asian Indian Phenotype' (AIP): Characterized by lower BMI cutoffs (overweight ≥23, obese ≥25), high visceral adiposity, hyperinsulinemia, and accelerated beta-cell depletion.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Premature CAD &amp; Stroke: Cardiovascular disease strikes Indians 10-15 years earlier than Western counterparts.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The Episodic Care Gap: Clinic visits every 3-6 months miss postprandial glycemic excursions and nocturnal non-dipping hypertension.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Our Solution: A dynamic Digital Twin continuously assimilating wearable telemetry with longitudinal EHR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Happiest Health - Digital Twin Challenge 2026 |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2. The Digital Twin Paradigm: Virtualizing Patient Physiology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From Reactive Medicine to In-Silico Predictive Twin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What is CardioTwin?: A real-time, biophysically coupled virtual replica of a patient's cardio-metabolic system.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Continuous Dual-Stream Ingestion: Synchronizes static clinical EHR (HbA1c, lipids, renal labs, history) with real-time wearable telemetry (CGM, PPG HR/HRV, ambulatory BP).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Biophysical Grounding: Combines deterministic pharmacokinetic/pharmacodynamic ODEs with deep learning for physical realism.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Multi-Scale Modeling: Simulates cellular beta-cell stress, organ-level glomerular filtration, and systemic arterial hemodynamics.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Closing the Healthcare Loop: Continuous Sensing -&gt; Virtual Simulation -&gt; Personalized Clinical Decision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Happiest Health - Digital Twin Challenge 2026 |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3. Multi-Scale System Architecture Blueprint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4-Tier Production-Grade Architecture Aligned with Indian Health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Layer 1 - Data Ingestion: Ingests longitudinal EHR labs, 5-min CGM streams, PPG optical heart rate, HRV RMSSD, and continuous BP.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Layer 2 - Preprocessing &amp; Alignment: Temporal alignment, Kalman filtering for sensor noise, and circadian diurnal cycle normalization.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Layer 3 - Digital Twin Core: Bergman Minimal Model (glucose-insulin ODEs), 2-Element Windkessel (arterial pressure), and multi-horizon AI ensembles.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Layer 4 - Clinical Interface: Streamlit interactive doctor/patient portal, FastAPI REST backend, and HL7 FHIR R4 ABDM export.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Security &amp; Privacy: Local-first inference capability and HIPAA/ABDM privacy compliance.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Happiest Health - Digital Twin Challenge 2026 |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4. Bio-Physical Modeling Engine: Bergman &amp; Windkessel ODEs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Deterministic Physiological Core Ensuring Biological Fidelity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Bergman Minimal Model: Models plasma glucose G(t), remote insulin action X(t), and beta-cell insulin secretion I(t).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Phenotypic Calibration: Incorporates reduced insulin sensitivity index (p3) and blunted second-phase insulin response typical of South Asians.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Gastrointestinal Absorption: Dynamic non-linear meal appearance curve D(t) parameterized by carbohydrate load and glycemic index.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2-Element Windkessel Hemodynamics: Models aortic pressure decay P(t) based on systemic vascular resistance (R) and arterial compliance (C).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Circadian Dipping Analysis: Quantifies nocturnal blood pressure dipping ratio (dipper &gt;10% vs high-risk non-dipper &lt;10%).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Happiest Health - Digital Twin Challenge 2026 |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5. Multi-Horizon AI Predictive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Short, Medium, and Long-Term Predictive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⚡ Short-Term Horizon (Next 120 Minutes): Autoregressive sequence forecasting with 95% confidence bands to alert impending hypoglycemia (&lt;70 mg/dL) or postprandial surges (&gt;220 mg/dL).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🗓️ Medium-Term Horizon (90-Day Decompensation): Predicts glycemic decompensation risk and HbA1c drift based on longitudinal variability.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🌐 Long-Term Horizon (10-Year ASCVD Risk): Modified Framingham/ACC cardiovascular risk calibrated with a 1.5x South Asian multiplier.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🫘 Diabetic Kidney Disease (DKD): Ensembles predicting microalbuminuria progression and eGFR decline (Stage 1 to 4/5).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Explainable AI: Feature importance and SHAP attributions highlighting individual risk drivers.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Happiest Health - Digital Twin Challenge 2026 |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6. Counterfactual In-Silico 'What-If' Clinical Simulator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Enabling Doctors to Test Interventions Virtually Before Prescribing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Virtual Prescription Sandbox: Interactively modulate diet, exercise, and pharmacotherapy sliders and observe simulated outcomes.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Nutritional Modulation: Swapping refined white rice/wheat for low-glycemic millets blunts postprandial peak glucose by up to 45 mg/dL.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Physical Activity Regimen: 20-minute postprandial brisk walking stimulates insulin-independent GLUT4 glucose uptake, elevating Time-In-Range (TIR).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Pharmacological Titration: Virtual addition of SGLT2 inhibitors (Empagliflozin) demonstrates renal glucose clearing and arterial preload reduction.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Chronotherapy Optimization: Shifting Telmisartan (ARB) dosing to bedtime restores nocturnal blood pressure dipping.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Happiest Health - Digital Twin Challenge 2026 |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7. Synthetic Indian Cohort &amp; Model Validation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Calibrated against ICMR-INDIAB Studies (N=500 Indian Patients)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Cohort Realism: 500 synthetic adult patients matching demographic, dietary, lipid, and renal profiles across major Indian metro &amp; tier-2 cities.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Atherogenic Dyslipidemia: Captures characteristically high triglycerides (mean ~195 mg/dL) and low HDL (mean ~41 mg/dL).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Model Performance Metrics: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  • XGBoost 10-Yr ASCVD Risk: R² = 0.942, MAE = 1.18% risk score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  • Random Forest DKD Staging: Accuracy = 92.4%, F1-Score = 0.91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  • 120-min CGM Sequence Forecast: RMSE = 8.4 mg/dL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Physiological Plausibility: ODE conservation laws prevent unrealistic hallucinatory outputs common in unconstrained LLMs.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Happiest Health - Digital Twin Challenge 2026 |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8. Clinical Explainability &amp; Guidelines Alignment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Adherence to ICMR-INDIAB, RSSDI 2026, and ADA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Asian Indian Specific Diagnostic Guardrails: Automatically applies WHO Asian BMI cutoffs (Overweight: ≥23, Obese: ≥25).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TG/HDL Ratio Evaluation: Flags ratios &gt;3.0 as markers of small dense LDL atherogenesis.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RSSDI 2026 Compliance: Recommends early dual/triple combination therapy for patients with high visceral adiposity.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Ambulatory Blood Pressure Monitoring (ABPM): Flags nocturnal non-dipping status (2.4x cardiovascular hazard).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Actionable Prescriptive Output: Translates complex digital twin outputs into clear clinical steps for practicing physicians.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Happiest Health - Digital Twin Challenge 2026 |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9. Interactive Doctor &amp; Patient Application Experience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Comprehensive Streamlit Dashboard Built for High Clinical Usability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Live Multimodal Telemetry: Synchronized interactive graphs for CGM, PPG Pulse, HRV, and Blood Pressure with clinical threshold overlays.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Organ-Level Digital Twin Radar: Real-time strain indices across Pancreas, Arteries, Kidneys, and Myocardium.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Patient Persona Switcher: Preloaded with diverse Indian clinical personas (e.g. Ramesh - uncontrolled T2D + HTN, Priya - early-stage metabolic syndrome).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Dynamic Parameter Sliders: Immediate recalculation of ODE states and machine learning risk curves.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Lightweight &amp; Fast: Runs locally or in cloud without GPU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Happiest Health - Digital Twin Challenge 2026 |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10. ABDM &amp; HL7 FHIR Interoperability &amp; Deployment Roadmap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Ready for Ayushman Bharat Digital Mission &amp; Real-World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HL7 FHIR R4 Bundle Support: Generates and exports standardized Patient, Observation (HbA1c, BP), and RiskAssessment resources.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ABHA Health Locker Ready: Designed for integration with India's Ayushman Bharat Digital Mission (ABDM) architecture.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FastAPI Microservice: High-throughput REST API supporting telemetry ingestion and headless simulation for hospital EHRs.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Low-Bandwidth Optimization: Designed to operate seamlessly across tier-2 and tier-3 healthcare facilities in India.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Commercial Scalability: Cloud-native containerized architecture deployable on AWS, Azure, or private hospital intranets.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Happiest Health - Digital Twin Challenge 2026 |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11. Conclusion &amp; Summit Vision: Reimagining Healthcare in India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Transforming Chronic Disease Care from Episodic to In-Silico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Core Achievement: Built a fully functional, biophysically validated Digital Twin proof-of-concept tailored for Indian cardio-metabolic disease.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Measurable Outcomes: Empowers doctors to test counterfactual interventions, prevents acute crises, and optimizes long-term survival.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Happiest Health Alignment: Directly fulfills the theme of 'Build. Predict. Reimagine Healthcare' at the 2026 Summit.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Open Source &amp; Reproducible: Complete code, synthetic datasets, models, documentation, and video guide in GitHub repository.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Thank You: Team CardioTwin looks forward to presenting at the Reimagining &amp; Reforming Healthcare in India Summit 2026!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Happiest Health - Digital Twin Challenge 2026 |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